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 UI"/>
              </a:rPr>
              <a:t>AIがマーケットを支配する時代へ：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CD4"/>
                </a:solidFill>
                <a:latin typeface="Yu Gothic UI"/>
              </a:rPr>
              <a:t>2026年の新常識 「AIO対策」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3794760"/>
            <a:ext cx="11274552" cy="0"/>
          </a:xfrm>
          <a:prstGeom prst="line">
            <a:avLst/>
          </a:prstGeom>
          <a:ln w="12700">
            <a:solidFill>
              <a:srgbClr val="446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9319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8F0"/>
                </a:solidFill>
                <a:latin typeface="Yu Gothic UI"/>
              </a:rPr>
              <a:t>検索トラフィック激減の危機と、店舗ビジネスが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0E8F0"/>
                </a:solidFill>
                <a:latin typeface="Yu Gothic UI"/>
              </a:rPr>
              <a:t>生き残るための「ゼロクリック検索」攻略法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88AA"/>
                </a:solidFill>
                <a:latin typeface="Yu Gothic UI"/>
              </a:rPr>
              <a:t>AI 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A"/>
                </a:solidFill>
                <a:latin typeface="Yu Gothic UI"/>
              </a:rPr>
              <a:t>検索行動は「探す」からAIによる「提案」へ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キーワード検索から、AIコンシェルジュへの相談へとユーザーの行動が根本から変化。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ユーザーはホームページをクリックせず、AIの要約だけで完結する「ゼロクリック検索」が主流に。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0352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A"/>
                </a:solidFill>
                <a:latin typeface="Yu Gothic UI"/>
              </a:rPr>
              <a:t>2024 - 過去の検索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👤 ユーザーがキーワードで検索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🔍 検索結果一覧（渋谷 居酒屋 おすすめ）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👆 リンクをクリックしてサイトへ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📖 ホームページを閲覧して情報収集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A"/>
                </a:solidFill>
                <a:latin typeface="Yu Gothic UI"/>
              </a:rPr>
              <a:t>2026 - 新たな検索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👤 ユーザーがAIに相談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🤖 AIコンシェルジュが店舗を推薦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✅ AIの要約だけで意思決定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🏪 Direct Action（直接来店・予約）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❌ ホームページはクリックされない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Yu Gothic U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A"/>
                </a:solidFill>
                <a:latin typeface="Yu Gothic UI"/>
              </a:rPr>
              <a:t>旧来のSEO・MEOだけに依存する店舗に訪れる「トラフィックの崖」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アクセス数は30%以上低下。2025年後期からAIが最初の入り口となる割合が急増し、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AIに選ばれない店は「存在しない」のと同じ状態に。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1430000" cy="47548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Yu Gothic UI"/>
              </a:rPr>
              <a:t>Market Share (%)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4389120" cy="365760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 UI"/>
              </a:rPr>
              <a:t>48.2%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657600"/>
            <a:ext cx="2286000" cy="210312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 UI"/>
              </a:rPr>
              <a:t>33.3%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5029200"/>
            <a:ext cx="2560320" cy="731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 UI"/>
              </a:rPr>
              <a:t>生成AI検索 (AIO/LLM)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53935"/>
                </a:solidFill>
                <a:latin typeface="Yu Gothic UI"/>
              </a:rPr>
              <a:t>🔻 検索トラフィック43%減少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E53935"/>
                </a:solidFill>
                <a:latin typeface="Yu Gothic UI"/>
              </a:rPr>
              <a:t>🔻 従来型検索の利用25%低下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86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BCD4"/>
                </a:solidFill>
                <a:latin typeface="Yu Gothic UI"/>
              </a:rPr>
              <a:t>⬆ ゼロクリック検索率60%超へ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Yu Gothic UI"/>
              </a:rPr>
              <a:t>2021前半  2021後半  2022前半  2022後半  2023  2024前半  2024後半  2025前半  2025後半  2026前半  2026後半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A"/>
                </a:solidFill>
                <a:latin typeface="Yu Gothic UI"/>
              </a:rPr>
              <a:t>AI Overview（AIO）が上位を独占する「ゼロクリック」の解剖学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AIが検索結果の最上部を占有。AIOに表示されなければ、ユーザーにスクロールされず、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実質的に見られない状態になります。検索順位1位でもクリックされない時代への突入。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737360"/>
            <a:ext cx="54864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920240"/>
            <a:ext cx="5120640" cy="2560320"/>
          </a:xfrm>
          <a:prstGeom prst="rect">
            <a:avLst/>
          </a:prstGeom>
          <a:solidFill>
            <a:srgbClr val="E3F2FD"/>
          </a:solidFill>
          <a:ln w="25400">
            <a:solidFill>
              <a:srgbClr val="1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7A"/>
                </a:solidFill>
                <a:latin typeface="Yu Gothic UI"/>
              </a:rPr>
              <a:t>AI Answer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A7A"/>
                </a:solidFill>
                <a:latin typeface="Yu Gothic UI"/>
              </a:rPr>
              <a:t>（AIによる要約）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243A"/>
                </a:solidFill>
                <a:latin typeface="Yu Gothic UI"/>
              </a:rPr>
              <a:t>✅ AIがここで答えを提供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243A"/>
                </a:solidFill>
                <a:latin typeface="Yu Gothic UI"/>
              </a:rPr>
              <a:t>✅ ユーザーの質問に直接回答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243A"/>
                </a:solidFill>
                <a:latin typeface="Yu Gothic UI"/>
              </a:rPr>
              <a:t>✅ 店舗情報・おすすめが自動表示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663440"/>
            <a:ext cx="51206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77777"/>
                </a:solidFill>
                <a:latin typeface="Yu Gothic UI"/>
              </a:rPr>
              <a:t>Invisible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074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Yu Gothic UI"/>
              </a:rPr>
              <a:t>（従来の自然検索リンク）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Yu Gothic UI"/>
              </a:rPr>
              <a:t>⚠ ユーザーはここまで
スクロールしない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A"/>
                </a:solidFill>
                <a:latin typeface="Yu Gothic UI"/>
              </a:rPr>
              <a:t>なぜAIはあなたの店舗を推薦リストから外すのか？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AIはGoogleだけでなく、ネット上のあらゆるプラットフォームの情報を横断して評価します。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媒体間で「営業時間」や「電話番号（NAP情報）」が少しでも矛盾していると、AIは情報の信頼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性を疑い、推薦リストから店舗を排除します。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20240"/>
            <a:ext cx="5029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2468880"/>
            <a:ext cx="1828800" cy="13716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6517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43A"/>
                </a:solidFill>
                <a:latin typeface="Yu Gothic UI"/>
              </a:rPr>
              <a:t>🏪
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560320" cy="73152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📍 定休日: 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2560320" cy="73152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📷 水曜定休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2560320" cy="914400"/>
          </a:xfrm>
          <a:prstGeom prst="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53935"/>
                </a:solidFill>
                <a:latin typeface="Yu Gothic UI"/>
              </a:rPr>
              <a:t>🌐 電話番号: 03-XXXX-1111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53935"/>
                </a:solidFill>
                <a:latin typeface="Yu Gothic UI"/>
              </a:rPr>
              <a:t>（古い番号）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53935"/>
                </a:solidFill>
                <a:latin typeface="Yu Gothic UI"/>
              </a:rPr>
              <a:t>❓
⚠️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926080"/>
            <a:ext cx="2560320" cy="1371600"/>
          </a:xfrm>
          <a:prstGeom prst="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017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53935"/>
                </a:solidFill>
                <a:latin typeface="Yu Gothic UI"/>
              </a:rPr>
              <a:t>❌ AIの推薦リスト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53935"/>
                </a:solidFill>
                <a:latin typeface="Yu Gothic UI"/>
              </a:rPr>
              <a:t>から除外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3935"/>
                </a:solidFill>
                <a:latin typeface="Yu Gothic UI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A"/>
                </a:solidFill>
                <a:latin typeface="Yu Gothic UI"/>
              </a:rPr>
              <a:t>「無料の手動更新」に潜む超高コストと炎上リスク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30媒体を超えた手動管理は不可能。情報漏れや古いデータ（ネガティブサイテーション）の放置は、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AIとユーザーの信頼を一瞬で失う致命傷となります。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486400" cy="4389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935"/>
                </a:solidFill>
                <a:latin typeface="Yu Gothic UI"/>
              </a:rPr>
              <a:t>⚠️ 手作業での手動更新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303520" cy="594360"/>
          </a:xfrm>
          <a:prstGeom prst="rect">
            <a:avLst/>
          </a:prstGeom>
          <a:solidFill>
            <a:srgbClr val="FF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🏔️  最大30媒体が限界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5303520" cy="594360"/>
          </a:xfrm>
          <a:prstGeom prst="rect">
            <a:avLst/>
          </a:prstGeom>
          <a:solidFill>
            <a:srgbClr val="FF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💰  毎月数百時間の作業コスト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303520" cy="594360"/>
          </a:xfrm>
          <a:prstGeom prst="rect">
            <a:avLst/>
          </a:prstGeom>
          <a:solidFill>
            <a:srgbClr val="FF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⚙️  ヒューマンエラー多発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5303520" cy="594360"/>
          </a:xfrm>
          <a:prstGeom prst="rect">
            <a:avLst/>
          </a:prstGeom>
          <a:solidFill>
            <a:srgbClr val="FF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📉  低いAI信頼インデックス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5303520" cy="594360"/>
          </a:xfrm>
          <a:prstGeom prst="rect">
            <a:avLst/>
          </a:prstGeom>
          <a:solidFill>
            <a:srgbClr val="FF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😰  時給ゼロで炎上リスクだけ背負う仕事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Yu Gothic UI"/>
              </a:rPr>
              <a:t>✅ Synup自動連携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530352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🌐  180以上のグローバル媒体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530352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⚡  瞬間的な自動同期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530352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✔️  エラー率ゼロ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26280"/>
            <a:ext cx="530352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📊  AI信頼インデックス70%以上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Yu Gothic UI"/>
              </a:rPr>
              <a:t>世界基準のAIO対策プラットフォーム「Synup」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0E8F0"/>
                </a:solidFill>
                <a:latin typeface="Yu Gothic UI"/>
              </a:rPr>
              <a:t>店舗データを一元管理し、サイテーション（情報の引用）を完璧に制御する指令塔。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0E8F0"/>
                </a:solidFill>
                <a:latin typeface="Yu Gothic UI"/>
              </a:rPr>
              <a:t>AIの「脳」に直接、正確な店舗情報を教育するためのグローバルスタンダード。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103120"/>
            <a:ext cx="5760720" cy="2286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Yu Gothic UI"/>
              </a:rPr>
              <a:t>≫ synup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5486400" cy="685800"/>
          </a:xfrm>
          <a:prstGeom prst="rect">
            <a:avLst/>
          </a:prstGeom>
          <a:solidFill>
            <a:srgbClr val="0D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280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🌍 グローバル対応｜180+ 媒体への自動同期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754880"/>
            <a:ext cx="5486400" cy="685800"/>
          </a:xfrm>
          <a:prstGeom prst="rect">
            <a:avLst/>
          </a:prstGeom>
          <a:solidFill>
            <a:srgbClr val="0D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8280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🤖 AI最適化｜AIの脳に正確な情報を登録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5486400" cy="685800"/>
          </a:xfrm>
          <a:prstGeom prst="rect">
            <a:avLst/>
          </a:prstGeom>
          <a:solidFill>
            <a:srgbClr val="0D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509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📊 統合ダッシュボード｜全媒体を一画面で管理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577840"/>
            <a:ext cx="5486400" cy="685800"/>
          </a:xfrm>
          <a:prstGeom prst="rect">
            <a:avLst/>
          </a:prstGeom>
          <a:solidFill>
            <a:srgbClr val="0D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6509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🔄 リアルタイム同期｜1回の入力で即時反映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Yu Gothic UI"/>
              </a:rPr>
              <a:t>1回の更新で、110以上のプラットフォームへ一括・自動同期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住所や営業時間の変更をSynupで1回入力するだけで、世界中のマップメディアやポータルサイトへ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自動反映。AIがクロールした際「どこを見ても同じ正しい情報がある」状態を作り出し、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インデックス率を70%以上7以上に引き上げます。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2286000"/>
            <a:ext cx="2286000" cy="22860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Command
Center
(Synup)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7432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59" y="320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Google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530352"/>
            <a:ext cx="274320" cy="289864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72400" y="4572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502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Apple Maps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80760" y="713232"/>
            <a:ext cx="2377440" cy="271576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0" y="13716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417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Facebook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1627632"/>
            <a:ext cx="4206240" cy="180136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41280" y="292608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Twitter/X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3182112"/>
            <a:ext cx="4846320" cy="24688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875520" y="45720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4617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Yelp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80760" y="3429000"/>
            <a:ext cx="4480560" cy="1399032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566928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5715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TripAdvisor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6080760" y="3429000"/>
            <a:ext cx="2377440" cy="2496312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754880" y="603504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608075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Bing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440680" y="3429000"/>
            <a:ext cx="640080" cy="2862072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560320" y="54864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39" y="5532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Yahoo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246120" y="3429000"/>
            <a:ext cx="2834640" cy="2313432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371600" y="438912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Foursquare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057400" y="3429000"/>
            <a:ext cx="4023360" cy="1216152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97280" y="27432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2788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LinkedIn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783080" y="2999232"/>
            <a:ext cx="4297680" cy="42976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45920" y="13716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1417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Instagram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31720" y="1627632"/>
            <a:ext cx="3749040" cy="180136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0" y="457200"/>
            <a:ext cx="13716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502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CD4"/>
                </a:solidFill>
                <a:latin typeface="Yu Gothic UI"/>
              </a:rPr>
              <a:t>TikTok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86200" y="713232"/>
            <a:ext cx="2194560" cy="2715768"/>
          </a:xfrm>
          <a:prstGeom prst="line">
            <a:avLst/>
          </a:prstGeom>
          <a:ln w="9525">
            <a:solidFill>
              <a:srgbClr val="00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Yu Gothic UI"/>
              </a:rPr>
              <a:t>AIコンシェルジュに「選ばれる店」になるための3つの絶対条件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Synupは単なる名簿管理ではありません。情報の一貫性、日々のSNS発信の自動化、そして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分散する口コミへの迅速な返信対応まで、AIが店舗の「信頼スコア」を測る全てのシグナルを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一つのダッシュボードで最適化します。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CD4"/>
                </a:solidFill>
                <a:latin typeface="Yu Gothic UI"/>
              </a:rPr>
              <a:t>AI Trust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3383280" cy="3474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 UI"/>
              </a:rPr>
              <a:t>1. 整合性
(Citations)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NAP情報の統一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110+媒体の完全同期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651760"/>
            <a:ext cx="3383280" cy="3474720"/>
          </a:xfrm>
          <a:prstGeom prst="rect">
            <a:avLst/>
          </a:prstGeom>
          <a:solidFill>
            <a:srgbClr val="027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 UI"/>
              </a:rPr>
              <a:t>2. 最新性
(Freshness)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SNS・Google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  最新情報の自動連携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情報の鮮度維持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651760"/>
            <a:ext cx="3383280" cy="347472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 UI"/>
              </a:rPr>
              <a:t>3. 評判
(Reputation)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全媒体の口コミ管理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• レビューへの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Yu Gothic UI"/>
              </a:rPr>
              <a:t>  迅速な対応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A"/>
                </a:solidFill>
                <a:latin typeface="Yu Gothic UI"/>
              </a:rPr>
              <a:t>【導入事例】わずか2ヶ月で問い合わせが20倍になった福岡のバー（15席）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小規模店舗ほどAIO対策の恩恵は絶大です。Synup導入により、AIにとって「存在しなかった店」が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「おすすめの店」へと劇的に変化。あらゆるマップ検索やAI提案をカバーし、集客カバー率95%を達成。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03520" cy="4389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3935"/>
                </a:solidFill>
                <a:latin typeface="Yu Gothic U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3935"/>
                </a:solidFill>
                <a:latin typeface="Yu Gothic UI"/>
              </a:rPr>
              <a:t>• 週2〜3件の問い合わせ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3935"/>
                </a:solidFill>
                <a:latin typeface="Yu Gothic UI"/>
              </a:rPr>
              <a:t>• 情報の不一致多数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Yu Gothic UI"/>
              </a:rPr>
              <a:t>• Maps・Voice・Search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Yu Gothic UI"/>
              </a:rPr>
              <a:t>• Social・Local 各媒体でバラバラ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Yu Gothic U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Yu Gothic UI"/>
              </a:rPr>
              <a:t>✅ 週40件超の問い合わせ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Yu Gothic UI"/>
              </a:rPr>
              <a:t>✅ 集客カバー率95%達成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Yu Gothic UI"/>
              </a:rPr>
              <a:t>✅ 1日最大10件の新規来店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83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43A"/>
                </a:solidFill>
                <a:latin typeface="Yu Gothic UI"/>
              </a:rPr>
              <a:t>✅ Maps・Voice・Search・Social・Local
全媒体で一貫した正確な情報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747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CD4"/>
                </a:solidFill>
                <a:latin typeface="Yu Gothic UI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A"/>
                </a:solidFill>
                <a:latin typeface="Yu Gothic UI"/>
              </a:rPr>
              <a:t>自社は大丈夫か？ 2026年「AIO適合」自己診断マトリックス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Apple Mapsでの表示は正しいですか？Bingでの営業時間は最新ですか？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これらの「情報の不一致」を放置している店舗から順に、AIの推薦リストから消えていきます。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4114800" cy="50292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26280" y="1828800"/>
            <a:ext cx="3474720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1828800"/>
            <a:ext cx="3749039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Yu Gothic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 UI"/>
              </a:rPr>
              <a:t>⚠️ 危険な店舗 (Vulnerable)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 UI"/>
              </a:rPr>
              <a:t>✅ 2026年最適化店舗 (Optimized)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423160"/>
            <a:ext cx="3474720" cy="685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423160"/>
            <a:ext cx="3749039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328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A"/>
                </a:solidFill>
                <a:latin typeface="Yu Gothic UI"/>
              </a:rPr>
              <a:t>GBPの更新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328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935"/>
                </a:solidFill>
                <a:latin typeface="Yu Gothic UI"/>
              </a:rPr>
              <a:t>❌ Googleのみ更新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Yu Gothic UI"/>
              </a:rPr>
              <a:t>✅ 110+媒体一括同期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3200400"/>
            <a:ext cx="3474720" cy="685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200400"/>
            <a:ext cx="3749039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101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A"/>
                </a:solidFill>
                <a:latin typeface="Yu Gothic UI"/>
              </a:rPr>
              <a:t>Apple/Bing Maps管理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10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935"/>
                </a:solidFill>
                <a:latin typeface="Yu Gothic UI"/>
              </a:rPr>
              <a:t>❌ 放置・未登録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01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Yu Gothic UI"/>
              </a:rPr>
              <a:t>✅ 全主要マップ完全網羅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977639"/>
            <a:ext cx="3474720" cy="685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977639"/>
            <a:ext cx="3749039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873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A"/>
                </a:solidFill>
                <a:latin typeface="Yu Gothic UI"/>
              </a:rPr>
              <a:t>媒体間の営業時間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87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935"/>
                </a:solidFill>
                <a:latin typeface="Yu Gothic UI"/>
              </a:rPr>
              <a:t>❌ サイト間で不一致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0873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Yu Gothic UI"/>
              </a:rPr>
              <a:t>✅ 秒速で完全一致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54879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26280" y="4754879"/>
            <a:ext cx="3474720" cy="685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4754879"/>
            <a:ext cx="3749039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646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A"/>
                </a:solidFill>
                <a:latin typeface="Yu Gothic UI"/>
              </a:rPr>
              <a:t>口コミの対応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646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935"/>
                </a:solidFill>
                <a:latin typeface="Yu Gothic UI"/>
              </a:rPr>
              <a:t>❌ 放置されている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86460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Yu Gothic UI"/>
              </a:rPr>
              <a:t>✅ 一元管理・迅速返信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Yu Gothic UI"/>
              </a:rPr>
              <a:t>MEO × AIO × 店舗ブランディング：三位一体の戦略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もはやMEOだけ、SNSだけでは勝てない時代。Synupをコアエンジンとして活用することで、MEO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（地図）、AIO（AI検索）、SNS（認知）のすべてが連動し、広告費ゼロで継続的にお客様が増え続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0E8F0"/>
                </a:solidFill>
                <a:latin typeface="Yu Gothic UI"/>
              </a:rPr>
              <a:t>ける仕組みが完成します。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103120"/>
            <a:ext cx="3200400" cy="2286000"/>
          </a:xfrm>
          <a:prstGeom prst="rect">
            <a:avLst/>
          </a:prstGeom>
          <a:solidFill>
            <a:srgbClr val="006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6517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MEO対策
(Google Maps)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03120"/>
            <a:ext cx="3200400" cy="2286000"/>
          </a:xfrm>
          <a:prstGeom prst="rect">
            <a:avLst/>
          </a:prstGeom>
          <a:solidFill>
            <a:srgbClr val="00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6517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AIO対策
(Synup一元管理)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4114800"/>
            <a:ext cx="3200400" cy="2286000"/>
          </a:xfrm>
          <a:prstGeom prst="rect">
            <a:avLst/>
          </a:prstGeom>
          <a:solidFill>
            <a:srgbClr val="335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4663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SNS・ブランディング
(Insta/TikTok)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200400"/>
            <a:ext cx="2743200" cy="1371600"/>
          </a:xfrm>
          <a:prstGeom prst="rect">
            <a:avLst/>
          </a:prstGeom>
          <a:solidFill>
            <a:srgbClr val="00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Yu Gothic UI"/>
              </a:rPr>
              <a:t>2026年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Yu Gothic UI"/>
              </a:rPr>
              <a:t>最強の集客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Yu Gothic UI"/>
              </a:rPr>
              <a:t>エコシステム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A"/>
                </a:solidFill>
                <a:latin typeface="Yu Gothic UI"/>
              </a:rPr>
              <a:t>代理店・パートナー様へ：既存のMEO/SEOの弱点を補完する強力な新商材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「順位は上がったが売上が伸びない」というMEOの限界を打破。手作業による運用工数を劇的に削減しな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43A"/>
                </a:solidFill>
                <a:latin typeface="Yu Gothic UI"/>
              </a:rPr>
              <a:t>がら、クライアントのLTV（顧客生涯価値）を高めるサブスクリプション型商材として、圧倒的な競争力を提供。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920240"/>
            <a:ext cx="4389120" cy="82296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20116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 UI"/>
              </a:rPr>
              <a:t>株式会社アシスト / Synup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3657600" cy="6858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代理店様 (Agencies)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3200400"/>
            <a:ext cx="3657600" cy="6858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 UI"/>
              </a:rPr>
              <a:t>店舗オーナー様 (Store Owners)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4114800"/>
            <a:ext cx="32918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43A"/>
                </a:solidFill>
                <a:latin typeface="Yu Gothic UI"/>
              </a:rPr>
              <a:t>• ストック収益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663440"/>
            <a:ext cx="32918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7091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43A"/>
                </a:solidFill>
                <a:latin typeface="Yu Gothic UI"/>
              </a:rPr>
              <a:t>• 解約リスク低減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5212080"/>
            <a:ext cx="32918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43A"/>
                </a:solidFill>
                <a:latin typeface="Yu Gothic UI"/>
              </a:rPr>
              <a:t>• 運用工数削減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5760720"/>
            <a:ext cx="32918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06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43A"/>
                </a:solidFill>
                <a:latin typeface="Yu Gothic UI"/>
              </a:rPr>
              <a:t>• 80,000社支援のノウハウ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926080" y="2743200"/>
            <a:ext cx="3154680" cy="457200"/>
          </a:xfrm>
          <a:prstGeom prst="line">
            <a:avLst/>
          </a:prstGeom>
          <a:ln w="19050">
            <a:solidFill>
              <a:srgbClr val="1A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743200"/>
            <a:ext cx="2880360" cy="457200"/>
          </a:xfrm>
          <a:prstGeom prst="line">
            <a:avLst/>
          </a:prstGeom>
          <a:ln w="19050">
            <a:solidFill>
              <a:srgbClr val="1A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3886200"/>
            <a:ext cx="0" cy="228600"/>
          </a:xfrm>
          <a:prstGeom prst="line">
            <a:avLst/>
          </a:prstGeom>
          <a:ln w="19050">
            <a:solidFill>
              <a:srgbClr val="1A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 UI"/>
              </a:rPr>
              <a:t>競合が動く前に、AIの「第一候補」の座を獲得する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0E8F0"/>
                </a:solidFill>
                <a:latin typeface="Yu Gothic UI"/>
              </a:rPr>
              <a:t>AIO対策は「早い者勝ち」です。AIが地域の優良店舗として学習を終える前に、情報インフラを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0E8F0"/>
                </a:solidFill>
                <a:latin typeface="Yu Gothic UI"/>
              </a:rPr>
              <a:t>構築する必要があります。まずは、あなたの店舗が現在AIにどう認識されているか、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0E8F0"/>
                </a:solidFill>
                <a:latin typeface="Yu Gothic UI"/>
              </a:rPr>
              <a:t>無料の「AIO適合診断」で確認してください。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5760720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3375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43A"/>
                </a:solidFill>
                <a:latin typeface="Yu Gothic UI"/>
              </a:rPr>
              <a:t>無料AIO適合診断を受ける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8F0"/>
                </a:solidFill>
                <a:latin typeface="Yu Gothic UI"/>
              </a:rPr>
              <a:t>今すぐ行動することで、競合が気づく前にAIの推薦リストに掲載される可能性が大きく高まります。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88AA"/>
                </a:solidFill>
                <a:latin typeface="Yu Gothic UI"/>
              </a:rPr>
              <a:t>AI 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